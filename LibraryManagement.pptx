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i Quang Huy D24CN06" userId="f9ddd9de-2581-4d2e-96ae-4c95bcdae6f0" providerId="ADAL" clId="{72E7D3AE-CB5F-4744-BD5A-284CD1624CDC}"/>
    <pc:docChg chg="undo custSel modSld">
      <pc:chgData name="Bui Quang Huy D24CN06" userId="f9ddd9de-2581-4d2e-96ae-4c95bcdae6f0" providerId="ADAL" clId="{72E7D3AE-CB5F-4744-BD5A-284CD1624CDC}" dt="2026-10-22T20:56:15.442" v="16" actId="20577"/>
      <pc:docMkLst>
        <pc:docMk/>
      </pc:docMkLst>
      <pc:sldChg chg="modSp mod">
        <pc:chgData name="Bui Quang Huy D24CN06" userId="f9ddd9de-2581-4d2e-96ae-4c95bcdae6f0" providerId="ADAL" clId="{72E7D3AE-CB5F-4744-BD5A-284CD1624CDC}" dt="2026-10-22T20:54:13.139" v="5" actId="1036"/>
        <pc:sldMkLst>
          <pc:docMk/>
          <pc:sldMk cId="0" sldId="256"/>
        </pc:sldMkLst>
        <pc:spChg chg="mod">
          <ac:chgData name="Bui Quang Huy D24CN06" userId="f9ddd9de-2581-4d2e-96ae-4c95bcdae6f0" providerId="ADAL" clId="{72E7D3AE-CB5F-4744-BD5A-284CD1624CDC}" dt="2026-10-22T20:54:13.139" v="5" actId="10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Bui Quang Huy D24CN06" userId="f9ddd9de-2581-4d2e-96ae-4c95bcdae6f0" providerId="ADAL" clId="{72E7D3AE-CB5F-4744-BD5A-284CD1624CDC}" dt="2026-10-22T20:54:08.502" v="4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Bui Quang Huy D24CN06" userId="f9ddd9de-2581-4d2e-96ae-4c95bcdae6f0" providerId="ADAL" clId="{72E7D3AE-CB5F-4744-BD5A-284CD1624CDC}" dt="2026-10-22T20:55:51.208" v="14" actId="1076"/>
        <pc:sldMkLst>
          <pc:docMk/>
          <pc:sldMk cId="0" sldId="261"/>
        </pc:sldMkLst>
        <pc:spChg chg="mod">
          <ac:chgData name="Bui Quang Huy D24CN06" userId="f9ddd9de-2581-4d2e-96ae-4c95bcdae6f0" providerId="ADAL" clId="{72E7D3AE-CB5F-4744-BD5A-284CD1624CDC}" dt="2026-10-22T20:55:51.208" v="14" actId="1076"/>
          <ac:spMkLst>
            <pc:docMk/>
            <pc:sldMk cId="0" sldId="261"/>
            <ac:spMk id="10" creationId="{00000000-0000-0000-0000-000000000000}"/>
          </ac:spMkLst>
        </pc:spChg>
      </pc:sldChg>
      <pc:sldChg chg="modSp mod">
        <pc:chgData name="Bui Quang Huy D24CN06" userId="f9ddd9de-2581-4d2e-96ae-4c95bcdae6f0" providerId="ADAL" clId="{72E7D3AE-CB5F-4744-BD5A-284CD1624CDC}" dt="2026-10-22T20:55:40.180" v="12" actId="255"/>
        <pc:sldMkLst>
          <pc:docMk/>
          <pc:sldMk cId="0" sldId="262"/>
        </pc:sldMkLst>
        <pc:spChg chg="mod">
          <ac:chgData name="Bui Quang Huy D24CN06" userId="f9ddd9de-2581-4d2e-96ae-4c95bcdae6f0" providerId="ADAL" clId="{72E7D3AE-CB5F-4744-BD5A-284CD1624CDC}" dt="2026-10-22T20:55:40.180" v="12" actId="25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Bui Quang Huy D24CN06" userId="f9ddd9de-2581-4d2e-96ae-4c95bcdae6f0" providerId="ADAL" clId="{72E7D3AE-CB5F-4744-BD5A-284CD1624CDC}" dt="2026-10-22T20:55:40.180" v="12" actId="255"/>
          <ac:spMkLst>
            <pc:docMk/>
            <pc:sldMk cId="0" sldId="262"/>
            <ac:spMk id="13" creationId="{00000000-0000-0000-0000-000000000000}"/>
          </ac:spMkLst>
        </pc:spChg>
        <pc:spChg chg="mod">
          <ac:chgData name="Bui Quang Huy D24CN06" userId="f9ddd9de-2581-4d2e-96ae-4c95bcdae6f0" providerId="ADAL" clId="{72E7D3AE-CB5F-4744-BD5A-284CD1624CDC}" dt="2026-10-22T20:55:40.180" v="12" actId="25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Bui Quang Huy D24CN06" userId="f9ddd9de-2581-4d2e-96ae-4c95bcdae6f0" providerId="ADAL" clId="{72E7D3AE-CB5F-4744-BD5A-284CD1624CDC}" dt="2026-10-22T20:55:40.180" v="12" actId="255"/>
          <ac:spMkLst>
            <pc:docMk/>
            <pc:sldMk cId="0" sldId="262"/>
            <ac:spMk id="15" creationId="{00000000-0000-0000-0000-000000000000}"/>
          </ac:spMkLst>
        </pc:spChg>
        <pc:spChg chg="mod">
          <ac:chgData name="Bui Quang Huy D24CN06" userId="f9ddd9de-2581-4d2e-96ae-4c95bcdae6f0" providerId="ADAL" clId="{72E7D3AE-CB5F-4744-BD5A-284CD1624CDC}" dt="2026-10-22T20:55:40.180" v="12" actId="255"/>
          <ac:spMkLst>
            <pc:docMk/>
            <pc:sldMk cId="0" sldId="262"/>
            <ac:spMk id="16" creationId="{00000000-0000-0000-0000-000000000000}"/>
          </ac:spMkLst>
        </pc:spChg>
        <pc:spChg chg="mod">
          <ac:chgData name="Bui Quang Huy D24CN06" userId="f9ddd9de-2581-4d2e-96ae-4c95bcdae6f0" providerId="ADAL" clId="{72E7D3AE-CB5F-4744-BD5A-284CD1624CDC}" dt="2026-10-22T20:55:40.180" v="12" actId="255"/>
          <ac:spMkLst>
            <pc:docMk/>
            <pc:sldMk cId="0" sldId="262"/>
            <ac:spMk id="17" creationId="{00000000-0000-0000-0000-000000000000}"/>
          </ac:spMkLst>
        </pc:spChg>
        <pc:spChg chg="mod">
          <ac:chgData name="Bui Quang Huy D24CN06" userId="f9ddd9de-2581-4d2e-96ae-4c95bcdae6f0" providerId="ADAL" clId="{72E7D3AE-CB5F-4744-BD5A-284CD1624CDC}" dt="2026-10-22T20:55:40.180" v="12" actId="255"/>
          <ac:spMkLst>
            <pc:docMk/>
            <pc:sldMk cId="0" sldId="262"/>
            <ac:spMk id="18" creationId="{00000000-0000-0000-0000-000000000000}"/>
          </ac:spMkLst>
        </pc:spChg>
        <pc:spChg chg="mod">
          <ac:chgData name="Bui Quang Huy D24CN06" userId="f9ddd9de-2581-4d2e-96ae-4c95bcdae6f0" providerId="ADAL" clId="{72E7D3AE-CB5F-4744-BD5A-284CD1624CDC}" dt="2026-10-22T20:55:40.180" v="12" actId="255"/>
          <ac:spMkLst>
            <pc:docMk/>
            <pc:sldMk cId="0" sldId="262"/>
            <ac:spMk id="19" creationId="{00000000-0000-0000-0000-000000000000}"/>
          </ac:spMkLst>
        </pc:spChg>
        <pc:spChg chg="mod">
          <ac:chgData name="Bui Quang Huy D24CN06" userId="f9ddd9de-2581-4d2e-96ae-4c95bcdae6f0" providerId="ADAL" clId="{72E7D3AE-CB5F-4744-BD5A-284CD1624CDC}" dt="2026-10-22T20:55:40.180" v="12" actId="255"/>
          <ac:spMkLst>
            <pc:docMk/>
            <pc:sldMk cId="0" sldId="262"/>
            <ac:spMk id="20" creationId="{00000000-0000-0000-0000-000000000000}"/>
          </ac:spMkLst>
        </pc:spChg>
        <pc:spChg chg="mod">
          <ac:chgData name="Bui Quang Huy D24CN06" userId="f9ddd9de-2581-4d2e-96ae-4c95bcdae6f0" providerId="ADAL" clId="{72E7D3AE-CB5F-4744-BD5A-284CD1624CDC}" dt="2026-10-22T20:55:40.180" v="12" actId="255"/>
          <ac:spMkLst>
            <pc:docMk/>
            <pc:sldMk cId="0" sldId="262"/>
            <ac:spMk id="21" creationId="{00000000-0000-0000-0000-000000000000}"/>
          </ac:spMkLst>
        </pc:spChg>
      </pc:sldChg>
      <pc:sldChg chg="modSp mod">
        <pc:chgData name="Bui Quang Huy D24CN06" userId="f9ddd9de-2581-4d2e-96ae-4c95bcdae6f0" providerId="ADAL" clId="{72E7D3AE-CB5F-4744-BD5A-284CD1624CDC}" dt="2026-10-22T20:56:15.442" v="16" actId="20577"/>
        <pc:sldMkLst>
          <pc:docMk/>
          <pc:sldMk cId="0" sldId="266"/>
        </pc:sldMkLst>
        <pc:spChg chg="mod">
          <ac:chgData name="Bui Quang Huy D24CN06" userId="f9ddd9de-2581-4d2e-96ae-4c95bcdae6f0" providerId="ADAL" clId="{72E7D3AE-CB5F-4744-BD5A-284CD1624CDC}" dt="2026-10-22T20:56:15.442" v="16" actId="20577"/>
          <ac:spMkLst>
            <pc:docMk/>
            <pc:sldMk cId="0" sldId="266"/>
            <ac:spMk id="17" creationId="{00000000-0000-0000-0000-000000000000}"/>
          </ac:spMkLst>
        </pc:spChg>
      </pc:sldChg>
      <pc:sldChg chg="modSp mod">
        <pc:chgData name="Bui Quang Huy D24CN06" userId="f9ddd9de-2581-4d2e-96ae-4c95bcdae6f0" providerId="ADAL" clId="{72E7D3AE-CB5F-4744-BD5A-284CD1624CDC}" dt="2026-10-22T20:55:29.541" v="11" actId="255"/>
        <pc:sldMkLst>
          <pc:docMk/>
          <pc:sldMk cId="0" sldId="268"/>
        </pc:sldMkLst>
        <pc:graphicFrameChg chg="modGraphic">
          <ac:chgData name="Bui Quang Huy D24CN06" userId="f9ddd9de-2581-4d2e-96ae-4c95bcdae6f0" providerId="ADAL" clId="{72E7D3AE-CB5F-4744-BD5A-284CD1624CDC}" dt="2026-10-22T20:55:29.541" v="11" actId="255"/>
          <ac:graphicFrameMkLst>
            <pc:docMk/>
            <pc:sldMk cId="0" sldId="268"/>
            <ac:graphicFrameMk id="8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356333"/>
            <a:ext cx="4023360" cy="7680960"/>
          </a:xfrm>
          <a:prstGeom prst="parallelogram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875520" y="-274320"/>
            <a:ext cx="2560320" cy="7498079"/>
          </a:xfrm>
          <a:prstGeom prst="parallelogram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51560" cy="109728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502920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 dirty="0">
                <a:solidFill>
                  <a:srgbClr val="F58B30"/>
                </a:solidFill>
                <a:latin typeface="Aptos"/>
              </a:rPr>
              <a:t>BÀI TẬP LỚN</a:t>
            </a:r>
            <a:r>
              <a:rPr lang="en-US" sz="1500" b="1" dirty="0">
                <a:solidFill>
                  <a:srgbClr val="F58B30"/>
                </a:solidFill>
                <a:latin typeface="Aptos"/>
              </a:rPr>
              <a:t> NHÓM 13</a:t>
            </a:r>
            <a:endParaRPr sz="1500" b="1" i="0" dirty="0">
              <a:solidFill>
                <a:srgbClr val="F58B3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7863840" cy="597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 dirty="0">
                <a:solidFill>
                  <a:srgbClr val="FFFFFF"/>
                </a:solidFill>
                <a:latin typeface="Aptos"/>
              </a:rPr>
              <a:t>HỆ THỐNG</a:t>
            </a:r>
            <a:r>
              <a:rPr lang="en-US" sz="34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sz="3400" b="1" i="0" dirty="0">
                <a:solidFill>
                  <a:srgbClr val="FFFFFF"/>
                </a:solidFill>
                <a:latin typeface="Aptos"/>
              </a:rPr>
              <a:t>QUẢN LÝ THƯ VIỆN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59397"/>
            <a:ext cx="676656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 dirty="0" err="1">
                <a:solidFill>
                  <a:srgbClr val="DBE7F5"/>
                </a:solidFill>
                <a:latin typeface="Aptos"/>
              </a:rPr>
              <a:t>Thiết</a:t>
            </a:r>
            <a:r>
              <a:rPr sz="1800" b="0" i="0" dirty="0">
                <a:solidFill>
                  <a:srgbClr val="DBE7F5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DBE7F5"/>
                </a:solidFill>
                <a:latin typeface="Aptos"/>
              </a:rPr>
              <a:t>kế</a:t>
            </a:r>
            <a:r>
              <a:rPr sz="1800" b="0" i="0" dirty="0">
                <a:solidFill>
                  <a:srgbClr val="DBE7F5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DBE7F5"/>
                </a:solidFill>
                <a:latin typeface="Aptos"/>
              </a:rPr>
              <a:t>cơ</a:t>
            </a:r>
            <a:r>
              <a:rPr sz="1800" b="0" i="0" dirty="0">
                <a:solidFill>
                  <a:srgbClr val="DBE7F5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DBE7F5"/>
                </a:solidFill>
                <a:latin typeface="Aptos"/>
              </a:rPr>
              <a:t>sở</a:t>
            </a:r>
            <a:r>
              <a:rPr sz="1800" b="0" i="0" dirty="0">
                <a:solidFill>
                  <a:srgbClr val="DBE7F5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DBE7F5"/>
                </a:solidFill>
                <a:latin typeface="Aptos"/>
              </a:rPr>
              <a:t>dữ</a:t>
            </a:r>
            <a:r>
              <a:rPr sz="1800" b="0" i="0" dirty="0">
                <a:solidFill>
                  <a:srgbClr val="DBE7F5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DBE7F5"/>
                </a:solidFill>
                <a:latin typeface="Aptos"/>
              </a:rPr>
              <a:t>liệu</a:t>
            </a:r>
            <a:r>
              <a:rPr sz="1800" b="0" i="0" dirty="0">
                <a:solidFill>
                  <a:srgbClr val="DBE7F5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DBE7F5"/>
                </a:solidFill>
                <a:latin typeface="Aptos"/>
              </a:rPr>
              <a:t>và</a:t>
            </a:r>
            <a:r>
              <a:rPr sz="1800" b="0" i="0" dirty="0">
                <a:solidFill>
                  <a:srgbClr val="DBE7F5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DBE7F5"/>
                </a:solidFill>
                <a:latin typeface="Aptos"/>
              </a:rPr>
              <a:t>mô</a:t>
            </a:r>
            <a:r>
              <a:rPr sz="1800" b="0" i="0" dirty="0">
                <a:solidFill>
                  <a:srgbClr val="DBE7F5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DBE7F5"/>
                </a:solidFill>
                <a:latin typeface="Aptos"/>
              </a:rPr>
              <a:t>hình</a:t>
            </a:r>
            <a:r>
              <a:rPr sz="1800" b="0" i="0" dirty="0">
                <a:solidFill>
                  <a:srgbClr val="DBE7F5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DBE7F5"/>
                </a:solidFill>
                <a:latin typeface="Aptos"/>
              </a:rPr>
              <a:t>quản</a:t>
            </a:r>
            <a:r>
              <a:rPr sz="1800" b="0" i="0" dirty="0">
                <a:solidFill>
                  <a:srgbClr val="DBE7F5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DBE7F5"/>
                </a:solidFill>
                <a:latin typeface="Aptos"/>
              </a:rPr>
              <a:t>lý</a:t>
            </a:r>
            <a:r>
              <a:rPr sz="1800" b="0" i="0" dirty="0">
                <a:solidFill>
                  <a:srgbClr val="DBE7F5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DBE7F5"/>
                </a:solidFill>
                <a:latin typeface="Aptos"/>
              </a:rPr>
              <a:t>mượn</a:t>
            </a:r>
            <a:r>
              <a:rPr sz="1800" b="0" i="0" dirty="0">
                <a:solidFill>
                  <a:srgbClr val="DBE7F5"/>
                </a:solidFill>
                <a:latin typeface="Aptos"/>
              </a:rPr>
              <a:t> – </a:t>
            </a:r>
            <a:r>
              <a:rPr sz="1800" b="0" i="0" dirty="0" err="1">
                <a:solidFill>
                  <a:srgbClr val="DBE7F5"/>
                </a:solidFill>
                <a:latin typeface="Aptos"/>
              </a:rPr>
              <a:t>trả</a:t>
            </a:r>
            <a:r>
              <a:rPr sz="1800" b="0" i="0" dirty="0">
                <a:solidFill>
                  <a:srgbClr val="DBE7F5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DBE7F5"/>
                </a:solidFill>
                <a:latin typeface="Aptos"/>
              </a:rPr>
              <a:t>sách</a:t>
            </a:r>
            <a:endParaRPr sz="1800" b="0" i="0" dirty="0">
              <a:solidFill>
                <a:srgbClr val="DBE7F5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4568" y="5119255"/>
            <a:ext cx="7421880" cy="45719"/>
          </a:xfrm>
          <a:prstGeom prst="rect">
            <a:avLst/>
          </a:prstGeom>
          <a:solidFill>
            <a:srgbClr val="4D6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4568" y="3249013"/>
            <a:ext cx="6949440" cy="16127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 dirty="0" err="1">
                <a:solidFill>
                  <a:srgbClr val="FFFFFF"/>
                </a:solidFill>
                <a:latin typeface="Aptos"/>
              </a:rPr>
              <a:t>Giảng</a:t>
            </a:r>
            <a:r>
              <a:rPr sz="1600" b="0" i="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Aptos"/>
              </a:rPr>
              <a:t>viên</a:t>
            </a:r>
            <a:r>
              <a:rPr sz="1600" b="0" i="0" dirty="0">
                <a:solidFill>
                  <a:srgbClr val="FFFFFF"/>
                </a:solidFill>
                <a:latin typeface="Aptos"/>
              </a:rPr>
              <a:t>: </a:t>
            </a:r>
            <a:r>
              <a:rPr lang="en-US" sz="1600" dirty="0">
                <a:solidFill>
                  <a:srgbClr val="FFFFFF"/>
                </a:solidFill>
                <a:latin typeface="Aptos"/>
              </a:rPr>
              <a:t>Vũ Thị </a:t>
            </a:r>
            <a:r>
              <a:rPr lang="en-US" sz="1600" dirty="0" err="1">
                <a:solidFill>
                  <a:srgbClr val="FFFFFF"/>
                </a:solidFill>
                <a:latin typeface="Aptos"/>
              </a:rPr>
              <a:t>Thúy</a:t>
            </a:r>
            <a:r>
              <a:rPr lang="en-US" sz="1600" dirty="0">
                <a:solidFill>
                  <a:srgbClr val="FFFFFF"/>
                </a:solidFill>
                <a:latin typeface="Aptos"/>
              </a:rPr>
              <a:t> Hà</a:t>
            </a:r>
          </a:p>
          <a:p>
            <a:pPr>
              <a:spcAft>
                <a:spcPts val="600"/>
              </a:spcAft>
            </a:pPr>
            <a:r>
              <a:rPr sz="1600" b="0" i="0" dirty="0" err="1">
                <a:solidFill>
                  <a:srgbClr val="FFFFFF"/>
                </a:solidFill>
                <a:latin typeface="Aptos"/>
              </a:rPr>
              <a:t>Nhóm</a:t>
            </a:r>
            <a:r>
              <a:rPr sz="1600" b="0" i="0" dirty="0">
                <a:solidFill>
                  <a:srgbClr val="FFFFFF"/>
                </a:solidFill>
                <a:latin typeface="Aptos"/>
              </a:rPr>
              <a:t>: </a:t>
            </a:r>
            <a:r>
              <a:rPr lang="vi-VN" sz="1600" b="0" i="0" dirty="0">
                <a:solidFill>
                  <a:srgbClr val="FFFFFF"/>
                </a:solidFill>
                <a:latin typeface="Aptos"/>
              </a:rPr>
              <a:t>08</a:t>
            </a:r>
            <a:r>
              <a:rPr sz="1600" b="0" i="0" dirty="0">
                <a:solidFill>
                  <a:srgbClr val="FFFFFF"/>
                </a:solidFill>
                <a:latin typeface="Aptos"/>
              </a:rPr>
              <a:t> </a:t>
            </a:r>
            <a:endParaRPr lang="en-US" sz="1600" b="0" i="0" dirty="0">
              <a:solidFill>
                <a:srgbClr val="FFFFFF"/>
              </a:solidFill>
              <a:latin typeface="Aptos"/>
            </a:endParaRPr>
          </a:p>
          <a:p>
            <a:pPr>
              <a:spcAft>
                <a:spcPts val="600"/>
              </a:spcAft>
            </a:pPr>
            <a:r>
              <a:rPr sz="1600" b="0" i="0" dirty="0">
                <a:solidFill>
                  <a:srgbClr val="FFFFFF"/>
                </a:solidFill>
                <a:latin typeface="Aptos"/>
              </a:rPr>
              <a:t>Thành </a:t>
            </a:r>
            <a:r>
              <a:rPr sz="1600" b="0" i="0" dirty="0" err="1">
                <a:solidFill>
                  <a:srgbClr val="FFFFFF"/>
                </a:solidFill>
                <a:latin typeface="Aptos"/>
              </a:rPr>
              <a:t>viên</a:t>
            </a:r>
            <a:r>
              <a:rPr sz="1600" b="0" i="0" dirty="0">
                <a:solidFill>
                  <a:srgbClr val="FFFFFF"/>
                </a:solidFill>
                <a:latin typeface="Aptos"/>
              </a:rPr>
              <a:t>:</a:t>
            </a:r>
            <a:endParaRPr lang="en-US" sz="1600" b="0" i="0" dirty="0">
              <a:solidFill>
                <a:srgbClr val="FFFFFF"/>
              </a:solidFill>
              <a:latin typeface="Aptos"/>
            </a:endParaRP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FFFFFF"/>
                </a:solidFill>
                <a:latin typeface="Aptos"/>
              </a:rPr>
              <a:t>+ Bùi Quang Huy – B24DCCN270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FFFFFF"/>
                </a:solidFill>
                <a:latin typeface="Aptos"/>
              </a:rPr>
              <a:t>+ Phạm Tuấn Đạt – B24DCCN122</a:t>
            </a:r>
            <a:endParaRPr sz="1600" b="0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0" y="2606040"/>
            <a:ext cx="2286000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 dirty="0">
                <a:solidFill>
                  <a:srgbClr val="FFFFFF"/>
                </a:solidFill>
                <a:latin typeface="Aptos"/>
              </a:rPr>
              <a:t>LIBRARY</a:t>
            </a:r>
          </a:p>
          <a:p>
            <a:pPr algn="ctr">
              <a:spcAft>
                <a:spcPts val="600"/>
              </a:spcAft>
            </a:pPr>
            <a:r>
              <a:rPr sz="2000" b="1" i="0" dirty="0">
                <a:solidFill>
                  <a:srgbClr val="FFFFFF"/>
                </a:solidFill>
                <a:latin typeface="Aptos"/>
              </a:rPr>
              <a:t>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109728" cy="438912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29768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1F69B2"/>
                </a:solidFill>
                <a:latin typeface="Aptos"/>
              </a:rPr>
              <a:t>01 • 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02645"/>
                </a:solidFill>
                <a:latin typeface="Aptos"/>
              </a:rPr>
              <a:t>Giới thiệu đề tài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1148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627081"/>
                </a:solidFill>
                <a:latin typeface="Aptos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389888"/>
            <a:ext cx="10789920" cy="13716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10528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627081"/>
                </a:solidFill>
                <a:latin typeface="Aptos"/>
              </a:rPr>
              <a:t>BÀI TẬP LỚN  |  HỆ THỐNG QUẢN LÝ THƯ VIỆN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35640" y="6510528"/>
            <a:ext cx="594360" cy="4572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103327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33040"/>
                </a:solidFill>
                <a:latin typeface="Aptos"/>
              </a:rPr>
              <a:t>Xây dựng cơ sở dữ liệu hỗ trợ quản lý thông tin sách, thành viên và các giao dịch mượn – trả trong thư viện.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43200"/>
            <a:ext cx="3337560" cy="214884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2743200"/>
            <a:ext cx="82296" cy="2148840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907792"/>
            <a:ext cx="292607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02645"/>
                </a:solidFill>
                <a:latin typeface="Aptos"/>
              </a:rPr>
              <a:t>MỤC TIÊU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64992"/>
            <a:ext cx="2926079" cy="1399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33040"/>
                </a:solidFill>
                <a:latin typeface="Aptos"/>
              </a:rPr>
              <a:t>Tổ chức dữ liệu tập trung, rõ ràng và thuận tiện tra cứu.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743200"/>
            <a:ext cx="3337560" cy="214884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4840" y="2743200"/>
            <a:ext cx="82296" cy="214884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2907792"/>
            <a:ext cx="292607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02645"/>
                </a:solidFill>
                <a:latin typeface="Aptos"/>
              </a:rPr>
              <a:t>PHẠM 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64992"/>
            <a:ext cx="2926079" cy="1399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33040"/>
                </a:solidFill>
                <a:latin typeface="Aptos"/>
              </a:rPr>
              <a:t>Sách, tác giả, thể loại, bản sao, tài khoản và phiếu mượn.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743200"/>
            <a:ext cx="3337560" cy="214884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2743200"/>
            <a:ext cx="82296" cy="2148840"/>
          </a:xfrm>
          <a:prstGeom prst="rect">
            <a:avLst/>
          </a:prstGeom>
          <a:solidFill>
            <a:srgbClr val="30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2907792"/>
            <a:ext cx="292607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02645"/>
                </a:solidFill>
                <a:latin typeface="Aptos"/>
              </a:rPr>
              <a:t>KẾT QUẢ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364992"/>
            <a:ext cx="2926079" cy="1399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33040"/>
                </a:solidFill>
                <a:latin typeface="Aptos"/>
              </a:rPr>
              <a:t>Mô hình ERD và mô hình cơ sở dữ liệu quan hệ.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0584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69B2"/>
                </a:solidFill>
                <a:latin typeface="Aptos"/>
              </a:rPr>
              <a:t>Định hướng: giảm trùng lặp dữ liệu và tăng tính toàn vẹn khi vận hành.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109728" cy="438912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29768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1F69B2"/>
                </a:solidFill>
                <a:latin typeface="Aptos"/>
              </a:rPr>
              <a:t>02 • PHÂN TÍCH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02645"/>
                </a:solidFill>
                <a:latin typeface="Aptos"/>
              </a:rPr>
              <a:t>Bài toán và giải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1148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627081"/>
                </a:solidFill>
                <a:latin typeface="Aptos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389888"/>
            <a:ext cx="10789920" cy="13716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10528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627081"/>
                </a:solidFill>
                <a:latin typeface="Aptos"/>
              </a:rPr>
              <a:t>BÀI TẬP LỚN  |  HỆ THỐNG QUẢN LÝ THƯ VIỆN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35640" y="6510528"/>
            <a:ext cx="594360" cy="4572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1828800"/>
            <a:ext cx="4983480" cy="342900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1828800"/>
            <a:ext cx="82296" cy="342900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1993392"/>
            <a:ext cx="4572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02645"/>
                </a:solidFill>
                <a:latin typeface="Aptos"/>
              </a:rPr>
              <a:t>THỰC TRẠNG / NHU CẦU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50592"/>
            <a:ext cx="4572000" cy="2679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rgbClr val="233040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Khó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theo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dõi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số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lượng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bản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sao</a:t>
            </a:r>
            <a:endParaRPr sz="1600" b="0" i="0" dirty="0">
              <a:solidFill>
                <a:srgbClr val="23304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rgbClr val="233040"/>
                </a:solidFill>
                <a:latin typeface="Aptos"/>
              </a:rPr>
              <a:t>• Tra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cứu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sách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và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tác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giả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mất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thời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gian</a:t>
            </a:r>
            <a:endParaRPr sz="1600" b="0" i="0" dirty="0">
              <a:solidFill>
                <a:srgbClr val="23304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rgbClr val="233040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Khó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kiểm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soát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hạn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trả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và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lịch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sử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mượn</a:t>
            </a:r>
            <a:endParaRPr sz="1600" b="0" i="0" dirty="0">
              <a:solidFill>
                <a:srgbClr val="23304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rgbClr val="233040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Dữ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liệu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có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nguy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cơ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trùng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lặp</a:t>
            </a:r>
            <a:endParaRPr sz="1600" b="0" i="0" dirty="0">
              <a:solidFill>
                <a:srgbClr val="23304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55080" y="1828800"/>
            <a:ext cx="4983480" cy="342900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828800"/>
            <a:ext cx="82296" cy="3429000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993392"/>
            <a:ext cx="4572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02645"/>
                </a:solidFill>
                <a:latin typeface="Aptos"/>
              </a:rPr>
              <a:t>GIẢI PHÁP ĐỀ XUẤT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50592"/>
            <a:ext cx="4572000" cy="2679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33040"/>
                </a:solidFill>
                <a:latin typeface="Aptos"/>
              </a:rPr>
              <a:t>• Xây dựng cơ sở dữ liệu quan hệ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33040"/>
                </a:solidFill>
                <a:latin typeface="Aptos"/>
              </a:rPr>
              <a:t>• Liên kết bảng bằng PK và FK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33040"/>
                </a:solidFill>
                <a:latin typeface="Aptos"/>
              </a:rPr>
              <a:t>• Quản lý từng bản sao bằng mã vạch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33040"/>
                </a:solidFill>
                <a:latin typeface="Aptos"/>
              </a:rPr>
              <a:t>• Lưu lịch sử mượn – trả tập trung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577840"/>
            <a:ext cx="102412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02645"/>
                </a:solidFill>
                <a:latin typeface="Aptos"/>
              </a:rPr>
              <a:t>Kết quả mong muốn: dữ liệu nhất quán, truy vấn nhanh và dễ mở rộng chức năng.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109728" cy="438912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29768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1F69B2"/>
                </a:solidFill>
                <a:latin typeface="Aptos"/>
              </a:rPr>
              <a:t>03 • CHỨC NĂNG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02645"/>
                </a:solidFill>
                <a:latin typeface="Aptos"/>
              </a:rPr>
              <a:t>Các phân hệ chính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1148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627081"/>
                </a:solidFill>
                <a:latin typeface="Aptos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389888"/>
            <a:ext cx="10789920" cy="13716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10528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627081"/>
                </a:solidFill>
                <a:latin typeface="Aptos"/>
              </a:rPr>
              <a:t>BÀI TẬP LỚN  |  HỆ THỐNG QUẢN LÝ THƯ VIỆN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35640" y="6510528"/>
            <a:ext cx="594360" cy="4572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1828800"/>
            <a:ext cx="5074920" cy="155448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1828800"/>
            <a:ext cx="82296" cy="1554480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1993392"/>
            <a:ext cx="4663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02645"/>
                </a:solidFill>
                <a:latin typeface="Aptos"/>
              </a:rPr>
              <a:t>01  QUẢN LÝ SÁCH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50592"/>
            <a:ext cx="466344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33040"/>
                </a:solidFill>
                <a:latin typeface="Aptos"/>
              </a:rPr>
              <a:t>Thông tin sách, tác giả, thể loại và ngôn ngữ.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5074920" cy="155448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82296" cy="155448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993392"/>
            <a:ext cx="4663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02645"/>
                </a:solidFill>
                <a:latin typeface="Aptos"/>
              </a:rPr>
              <a:t>02  QUẢN LÝ BẢN SAO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50592"/>
            <a:ext cx="466344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33040"/>
                </a:solidFill>
                <a:latin typeface="Aptos"/>
              </a:rPr>
              <a:t>Mã vạch, ấn bản và trạng thái từng cuốn.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840480"/>
            <a:ext cx="5074920" cy="155448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3840480"/>
            <a:ext cx="82296" cy="1554480"/>
          </a:xfrm>
          <a:prstGeom prst="rect">
            <a:avLst/>
          </a:prstGeom>
          <a:solidFill>
            <a:srgbClr val="30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005072"/>
            <a:ext cx="4663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02645"/>
                </a:solidFill>
                <a:latin typeface="Aptos"/>
              </a:rPr>
              <a:t>03  MƯỢN – TRẢ SÁCH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462272"/>
            <a:ext cx="466344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33040"/>
                </a:solidFill>
                <a:latin typeface="Aptos"/>
              </a:rPr>
              <a:t>Ngày mượn, hạn trả, ngày trả thực tế.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840480"/>
            <a:ext cx="5074920" cy="155448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3840480"/>
            <a:ext cx="82296" cy="1554480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4005072"/>
            <a:ext cx="4663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02645"/>
                </a:solidFill>
                <a:latin typeface="Aptos"/>
              </a:rPr>
              <a:t>04  NGƯỜI DÙNG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62272"/>
            <a:ext cx="466344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33040"/>
                </a:solidFill>
                <a:latin typeface="Aptos"/>
              </a:rPr>
              <a:t>Tài khoản, hồ sơ thành viên và nhóm quyền.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109728" cy="438912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29768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1F69B2"/>
                </a:solidFill>
                <a:latin typeface="Aptos"/>
              </a:rPr>
              <a:t>04 • PHÂN TÍCH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02645"/>
                </a:solidFill>
                <a:latin typeface="Aptos"/>
              </a:rPr>
              <a:t>Sơ đồ ERD – Thực thể và liên kết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1148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627081"/>
                </a:solidFill>
                <a:latin typeface="Aptos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389888"/>
            <a:ext cx="10789920" cy="13716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10528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627081"/>
                </a:solidFill>
                <a:latin typeface="Aptos"/>
              </a:rPr>
              <a:t>BÀI TẬP LỚN  |  HỆ THỐNG QUẢN LÝ THƯ VIỆN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35640" y="6510528"/>
            <a:ext cx="594360" cy="4572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026-10-23 0034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011" y="1572767"/>
            <a:ext cx="4575672" cy="4709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897880"/>
            <a:ext cx="10058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627081"/>
                </a:solidFill>
                <a:latin typeface="Aptos"/>
              </a:rPr>
              <a:t>ERD mô tả các thực thể, thuộc tính và quan hệ nghiệp vụ của thư viện.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109728" cy="438912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29768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1F69B2"/>
                </a:solidFill>
                <a:latin typeface="Aptos"/>
              </a:rPr>
              <a:t>04 • PHÂN TÍCH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02645"/>
                </a:solidFill>
                <a:latin typeface="Aptos"/>
              </a:rPr>
              <a:t>Các mối quan hệ quan trọng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1148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627081"/>
                </a:solidFill>
                <a:latin typeface="Aptos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389888"/>
            <a:ext cx="10789920" cy="13716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10528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627081"/>
                </a:solidFill>
                <a:latin typeface="Aptos"/>
              </a:rPr>
              <a:t>BÀI TẬP LỚN  |  HỆ THỐNG QUẢN LÝ THƯ VIỆN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35640" y="6510528"/>
            <a:ext cx="594360" cy="4572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737360"/>
            <a:ext cx="10378440" cy="758952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68680" y="1737360"/>
            <a:ext cx="109728" cy="758952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1847088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02645"/>
                </a:solidFill>
                <a:latin typeface="Aptos"/>
              </a:rPr>
              <a:t>AUTHOR  → 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56231"/>
            <a:ext cx="6217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 err="1">
                <a:solidFill>
                  <a:srgbClr val="233040"/>
                </a:solidFill>
                <a:latin typeface="Aptos"/>
              </a:rPr>
              <a:t>Một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tác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giả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có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thể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viết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nhiều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cuốn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sách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761488"/>
            <a:ext cx="10378440" cy="758952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2761488"/>
            <a:ext cx="109728" cy="758952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2871216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02645"/>
                </a:solidFill>
                <a:latin typeface="Aptos"/>
              </a:rPr>
              <a:t>BOOK  →  BOOK_INSTANCE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80360"/>
            <a:ext cx="6217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 err="1">
                <a:solidFill>
                  <a:srgbClr val="233040"/>
                </a:solidFill>
                <a:latin typeface="Aptos"/>
              </a:rPr>
              <a:t>Một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đầu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sách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có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thể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có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nhiều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bản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sao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vật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lý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785616"/>
            <a:ext cx="10378440" cy="758952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8680" y="3785616"/>
            <a:ext cx="109728" cy="758952"/>
          </a:xfrm>
          <a:prstGeom prst="rect">
            <a:avLst/>
          </a:prstGeom>
          <a:solidFill>
            <a:srgbClr val="30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3895344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02645"/>
                </a:solidFill>
                <a:latin typeface="Aptos"/>
              </a:rPr>
              <a:t>BOOK  ↔  GENRE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04488"/>
            <a:ext cx="6217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33040"/>
                </a:solidFill>
                <a:latin typeface="Aptos"/>
              </a:rPr>
              <a:t>Quan hệ nhiều – nhiều, được triển khai qua BOOK_GENRE.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809744"/>
            <a:ext cx="10378440" cy="758952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" y="4809744"/>
            <a:ext cx="109728" cy="758952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4919472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02645"/>
                </a:solidFill>
                <a:latin typeface="Aptos"/>
              </a:rPr>
              <a:t>AUTH_USER  ↔  AUTH_GROUP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928616"/>
            <a:ext cx="6217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33040"/>
                </a:solidFill>
                <a:latin typeface="Aptos"/>
              </a:rPr>
              <a:t>Một tài khoản có thể thuộc nhiều nhóm quyền qua USER_GROUP.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109728" cy="438912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29768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1F69B2"/>
                </a:solidFill>
                <a:latin typeface="Aptos"/>
              </a:rPr>
              <a:t>05 • CƠ SỞ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02645"/>
                </a:solidFill>
                <a:latin typeface="Aptos"/>
              </a:rPr>
              <a:t>Mô hình cơ sở dữ liệu quan hệ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1148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627081"/>
                </a:solidFill>
                <a:latin typeface="Aptos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389888"/>
            <a:ext cx="10789920" cy="13716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10528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627081"/>
                </a:solidFill>
                <a:latin typeface="Aptos"/>
              </a:rPr>
              <a:t>BÀI TẬP LỚN  |  HỆ THỐNG QUẢN LÝ THƯ VIỆN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35640" y="6510528"/>
            <a:ext cx="594360" cy="4572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026-10-23 0034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39" y="1547875"/>
            <a:ext cx="7015657" cy="499008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49640" y="1828800"/>
            <a:ext cx="274320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Rectangle 11"/>
          <p:cNvSpPr/>
          <p:nvPr/>
        </p:nvSpPr>
        <p:spPr>
          <a:xfrm>
            <a:off x="8549640" y="1828800"/>
            <a:ext cx="82296" cy="1143000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8778240" y="1993392"/>
            <a:ext cx="23317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02645"/>
                </a:solidFill>
                <a:latin typeface="Aptos"/>
              </a:rPr>
              <a:t>11 BẢNG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450592"/>
            <a:ext cx="2331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33040"/>
                </a:solidFill>
                <a:latin typeface="Aptos"/>
              </a:rPr>
              <a:t>Các bảng được chia theo nhóm chức năng.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3246120"/>
            <a:ext cx="274320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Rectangle 15"/>
          <p:cNvSpPr/>
          <p:nvPr/>
        </p:nvSpPr>
        <p:spPr>
          <a:xfrm>
            <a:off x="8549640" y="3246120"/>
            <a:ext cx="82296" cy="114300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8778240" y="3410712"/>
            <a:ext cx="23317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02645"/>
                </a:solidFill>
                <a:latin typeface="Aptos"/>
              </a:rPr>
              <a:t>PK / FK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867911"/>
            <a:ext cx="2331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33040"/>
                </a:solidFill>
                <a:latin typeface="Aptos"/>
              </a:rPr>
              <a:t>Liên kết và bảo vệ tính toàn vẹn dữ liệu.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4663440"/>
            <a:ext cx="274320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Rectangle 19"/>
          <p:cNvSpPr/>
          <p:nvPr/>
        </p:nvSpPr>
        <p:spPr>
          <a:xfrm>
            <a:off x="8549640" y="4663440"/>
            <a:ext cx="82296" cy="1143000"/>
          </a:xfrm>
          <a:prstGeom prst="rect">
            <a:avLst/>
          </a:prstGeom>
          <a:solidFill>
            <a:srgbClr val="30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8778240" y="4828031"/>
            <a:ext cx="23317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02645"/>
                </a:solidFill>
                <a:latin typeface="Aptos"/>
              </a:rPr>
              <a:t>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5285231"/>
            <a:ext cx="2331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33040"/>
                </a:solidFill>
                <a:latin typeface="Aptos"/>
              </a:rPr>
              <a:t>Hạn chế dữ liệu quan trọng bị trùng.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109728" cy="438912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29768"/>
            <a:ext cx="4114800" cy="228600"/>
          </a:xfrm>
          <a:prstGeom prst="rect">
            <a:avLst/>
          </a:prstGeom>
          <a:noFill/>
        </p:spPr>
        <p:txBody>
          <a:bodyPr wrap="square" lIns="73152" tIns="22860" rIns="73152" bIns="22860" anchor="ctr">
            <a:spAutoFit/>
          </a:bodyPr>
          <a:lstStyle/>
          <a:p>
            <a:pPr algn="l"/>
            <a:r>
              <a:rPr sz="1000" b="1">
                <a:solidFill>
                  <a:srgbClr val="1F69B2"/>
                </a:solidFill>
                <a:latin typeface="Aptos"/>
              </a:rPr>
              <a:t>05 • CƠ SỞ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73152" tIns="22860" rIns="73152" bIns="22860" anchor="ctr">
            <a:spAutoFit/>
          </a:bodyPr>
          <a:lstStyle/>
          <a:p>
            <a:pPr algn="l"/>
            <a:r>
              <a:rPr sz="2500" b="1">
                <a:solidFill>
                  <a:srgbClr val="102645"/>
                </a:solidFill>
                <a:latin typeface="Aptos"/>
              </a:rPr>
              <a:t>Danh sách thực thể và thuộc tính chính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34440"/>
            <a:ext cx="10515600" cy="228600"/>
          </a:xfrm>
          <a:prstGeom prst="rect">
            <a:avLst/>
          </a:prstGeom>
          <a:noFill/>
        </p:spPr>
        <p:txBody>
          <a:bodyPr wrap="square" lIns="73152" tIns="22860" rIns="73152" bIns="22860" anchor="ctr">
            <a:spAutoFit/>
          </a:bodyPr>
          <a:lstStyle/>
          <a:p>
            <a:pPr algn="l"/>
            <a:r>
              <a:rPr sz="1100" b="0">
                <a:solidFill>
                  <a:srgbClr val="627081"/>
                </a:solidFill>
                <a:latin typeface="Aptos"/>
              </a:rPr>
              <a:t>Tổng hợp các bảng trong mô hình quan hệ, kèm khóa và vai trò dữ liệu.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536192"/>
            <a:ext cx="10789920" cy="13716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53157"/>
              </p:ext>
            </p:extLst>
          </p:nvPr>
        </p:nvGraphicFramePr>
        <p:xfrm>
          <a:off x="658368" y="1691640"/>
          <a:ext cx="10881359" cy="4576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Thực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thể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 /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Bảng</a:t>
                      </a:r>
                      <a:endParaRPr sz="12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54864" marT="22860" marB="22860" anchor="ctr">
                    <a:solidFill>
                      <a:srgbClr val="1F69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Thuộc tính chính</a:t>
                      </a:r>
                    </a:p>
                  </a:txBody>
                  <a:tcPr marL="73152" marR="54864" marT="22860" marB="22860" anchor="ctr">
                    <a:solidFill>
                      <a:srgbClr val="1F69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Khóa / Ràng buộc</a:t>
                      </a:r>
                    </a:p>
                  </a:txBody>
                  <a:tcPr marL="73152" marR="54864" marT="22860" marB="22860" anchor="ctr">
                    <a:solidFill>
                      <a:srgbClr val="1F69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Chức năng</a:t>
                      </a:r>
                    </a:p>
                  </a:txBody>
                  <a:tcPr marL="73152" marR="54864" marT="22860" marB="22860" anchor="ctr">
                    <a:solidFill>
                      <a:srgbClr val="1F69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1F69B2"/>
                          </a:solidFill>
                          <a:latin typeface="Aptos"/>
                        </a:rPr>
                        <a:t>AUTHOR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id, first_name, last_name, date_of_birth, date_of_death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PK: id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Lưu thông tin tác giả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69B2"/>
                          </a:solidFill>
                          <a:latin typeface="Aptos"/>
                        </a:rPr>
                        <a:t>BOOK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id, title, isbn, summary, author_id, language_id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PK: id; FK: author_id, language_id; UK: isbn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Quản lý đầu sách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69B2"/>
                          </a:solidFill>
                          <a:latin typeface="Aptos"/>
                        </a:rPr>
                        <a:t>GENRE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33040"/>
                          </a:solidFill>
                          <a:latin typeface="Aptos"/>
                        </a:rPr>
                        <a:t>id, name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PK: id; UK: name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Danh mục thể loại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69B2"/>
                          </a:solidFill>
                          <a:latin typeface="Aptos"/>
                        </a:rPr>
                        <a:t>BOOK_GENRE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book_id, genre_id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33040"/>
                          </a:solidFill>
                          <a:latin typeface="Aptos"/>
                        </a:rPr>
                        <a:t>PK </a:t>
                      </a:r>
                      <a:r>
                        <a:rPr sz="1200" b="0" dirty="0" err="1">
                          <a:solidFill>
                            <a:srgbClr val="233040"/>
                          </a:solidFill>
                          <a:latin typeface="Aptos"/>
                        </a:rPr>
                        <a:t>ghép</a:t>
                      </a:r>
                      <a:r>
                        <a:rPr sz="1200" b="0" dirty="0">
                          <a:solidFill>
                            <a:srgbClr val="233040"/>
                          </a:solidFill>
                          <a:latin typeface="Aptos"/>
                        </a:rPr>
                        <a:t>: </a:t>
                      </a:r>
                      <a:r>
                        <a:rPr sz="1200" b="0" dirty="0" err="1">
                          <a:solidFill>
                            <a:srgbClr val="233040"/>
                          </a:solidFill>
                          <a:latin typeface="Aptos"/>
                        </a:rPr>
                        <a:t>book_id</a:t>
                      </a:r>
                      <a:r>
                        <a:rPr sz="1200" b="0" dirty="0">
                          <a:solidFill>
                            <a:srgbClr val="233040"/>
                          </a:solidFill>
                          <a:latin typeface="Aptos"/>
                        </a:rPr>
                        <a:t> + </a:t>
                      </a:r>
                      <a:r>
                        <a:rPr sz="1200" b="0" dirty="0" err="1">
                          <a:solidFill>
                            <a:srgbClr val="233040"/>
                          </a:solidFill>
                          <a:latin typeface="Aptos"/>
                        </a:rPr>
                        <a:t>genre_id</a:t>
                      </a:r>
                      <a:r>
                        <a:rPr sz="1200" b="0" dirty="0">
                          <a:solidFill>
                            <a:srgbClr val="233040"/>
                          </a:solidFill>
                          <a:latin typeface="Aptos"/>
                        </a:rPr>
                        <a:t>; FK </a:t>
                      </a:r>
                      <a:r>
                        <a:rPr sz="1200" b="0" dirty="0" err="1">
                          <a:solidFill>
                            <a:srgbClr val="233040"/>
                          </a:solidFill>
                          <a:latin typeface="Aptos"/>
                        </a:rPr>
                        <a:t>đến</a:t>
                      </a:r>
                      <a:r>
                        <a:rPr sz="1200" b="0" dirty="0">
                          <a:solidFill>
                            <a:srgbClr val="233040"/>
                          </a:solidFill>
                          <a:latin typeface="Aptos"/>
                        </a:rPr>
                        <a:t> BOOK, GENRE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Liên kết sách – thể loại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69B2"/>
                          </a:solidFill>
                          <a:latin typeface="Aptos"/>
                        </a:rPr>
                        <a:t>LANGUAGE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id, name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PK: id; UK: name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Danh mục ngôn ngữ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69B2"/>
                          </a:solidFill>
                          <a:latin typeface="Aptos"/>
                        </a:rPr>
                        <a:t>BOOK_INSTANCE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id, book_id, imprint, barcode, status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PK: id; FK: book_id; UK: barcode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Quản lý từng bản sao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69B2"/>
                          </a:solidFill>
                          <a:latin typeface="Aptos"/>
                        </a:rPr>
                        <a:t>LOAN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id, book_instance_id, member_id, processed_by_id, loan_date, due_date, returned_date, status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PK: id; FK đến bản sao và tài khoản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Theo dõi mượn – trả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69B2"/>
                          </a:solidFill>
                          <a:latin typeface="Aptos"/>
                        </a:rPr>
                        <a:t>AUTH_USER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id, username, password, is_active, is_staff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PK: id; UK: username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Quản lý tài khoản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69B2"/>
                          </a:solidFill>
                          <a:latin typeface="Aptos"/>
                        </a:rPr>
                        <a:t>USER_PROFILE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id, user_id, student_code, phone, date_of_birth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PK: id; UK/FK: user_id; UK: student_code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Hồ sơ thành viên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69B2"/>
                          </a:solidFill>
                          <a:latin typeface="Aptos"/>
                        </a:rPr>
                        <a:t>AUTH_GROUP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id, name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PK: id; UK: name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Nhóm quyền người dùng</a:t>
                      </a:r>
                    </a:p>
                  </a:txBody>
                  <a:tcPr marL="64008" marR="45720" marT="13716" marB="13716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69B2"/>
                          </a:solidFill>
                          <a:latin typeface="Aptos"/>
                        </a:rPr>
                        <a:t>USER_GROUP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user_id, group_id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33040"/>
                          </a:solidFill>
                          <a:latin typeface="Aptos"/>
                        </a:rPr>
                        <a:t>PK ghép: user_id + group_id; FK đến AUTH_USER, AUTH_GROUP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 err="1">
                          <a:solidFill>
                            <a:srgbClr val="233040"/>
                          </a:solidFill>
                          <a:latin typeface="Aptos"/>
                        </a:rPr>
                        <a:t>Gán</a:t>
                      </a:r>
                      <a:r>
                        <a:rPr sz="1200" b="0" dirty="0">
                          <a:solidFill>
                            <a:srgbClr val="233040"/>
                          </a:solidFill>
                          <a:latin typeface="Aptos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33040"/>
                          </a:solidFill>
                          <a:latin typeface="Aptos"/>
                        </a:rPr>
                        <a:t>tài</a:t>
                      </a:r>
                      <a:r>
                        <a:rPr sz="1200" b="0" dirty="0">
                          <a:solidFill>
                            <a:srgbClr val="233040"/>
                          </a:solidFill>
                          <a:latin typeface="Aptos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33040"/>
                          </a:solidFill>
                          <a:latin typeface="Aptos"/>
                        </a:rPr>
                        <a:t>khoản</a:t>
                      </a:r>
                      <a:r>
                        <a:rPr sz="1200" b="0" dirty="0">
                          <a:solidFill>
                            <a:srgbClr val="233040"/>
                          </a:solidFill>
                          <a:latin typeface="Aptos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33040"/>
                          </a:solidFill>
                          <a:latin typeface="Aptos"/>
                        </a:rPr>
                        <a:t>vào</a:t>
                      </a:r>
                      <a:r>
                        <a:rPr sz="1200" b="0" dirty="0">
                          <a:solidFill>
                            <a:srgbClr val="233040"/>
                          </a:solidFill>
                          <a:latin typeface="Aptos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33040"/>
                          </a:solidFill>
                          <a:latin typeface="Aptos"/>
                        </a:rPr>
                        <a:t>nhóm</a:t>
                      </a:r>
                      <a:r>
                        <a:rPr sz="1200" b="0" dirty="0">
                          <a:solidFill>
                            <a:srgbClr val="233040"/>
                          </a:solidFill>
                          <a:latin typeface="Aptos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33040"/>
                          </a:solidFill>
                          <a:latin typeface="Aptos"/>
                        </a:rPr>
                        <a:t>quyền</a:t>
                      </a:r>
                      <a:endParaRPr sz="1200" b="0" dirty="0">
                        <a:solidFill>
                          <a:srgbClr val="233040"/>
                        </a:solidFill>
                        <a:latin typeface="Aptos"/>
                      </a:endParaRP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8" y="6281928"/>
            <a:ext cx="10607040" cy="182880"/>
          </a:xfrm>
          <a:prstGeom prst="rect">
            <a:avLst/>
          </a:prstGeom>
          <a:noFill/>
        </p:spPr>
        <p:txBody>
          <a:bodyPr wrap="square" lIns="73152" tIns="22860" rIns="73152" bIns="22860" anchor="ctr">
            <a:spAutoFit/>
          </a:bodyPr>
          <a:lstStyle/>
          <a:p>
            <a:pPr algn="l"/>
            <a:r>
              <a:rPr sz="900" b="0">
                <a:solidFill>
                  <a:srgbClr val="627081"/>
                </a:solidFill>
                <a:latin typeface="Aptos"/>
              </a:rPr>
              <a:t>Lưu ý: Kiểu dữ liệu và tên cột cần được thống nhất giữa ERD, mô hình quan hệ và mã nguồn.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510528"/>
            <a:ext cx="7772400" cy="164592"/>
          </a:xfrm>
          <a:prstGeom prst="rect">
            <a:avLst/>
          </a:prstGeom>
          <a:noFill/>
        </p:spPr>
        <p:txBody>
          <a:bodyPr wrap="square" lIns="73152" tIns="22860" rIns="73152" bIns="22860" anchor="ctr">
            <a:spAutoFit/>
          </a:bodyPr>
          <a:lstStyle/>
          <a:p>
            <a:pPr algn="l"/>
            <a:r>
              <a:rPr sz="800" b="0">
                <a:solidFill>
                  <a:srgbClr val="627081"/>
                </a:solidFill>
                <a:latin typeface="Aptos"/>
              </a:rPr>
              <a:t>BÀI TẬP LỚN  |  HỆ THỐNG QUẢN LÝ THƯ VIỆN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35640" y="6510528"/>
            <a:ext cx="594360" cy="4572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109728" cy="438912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29768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1F69B2"/>
                </a:solidFill>
                <a:latin typeface="Aptos"/>
              </a:rPr>
              <a:t>05 • CƠ SỞ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02645"/>
                </a:solidFill>
                <a:latin typeface="Aptos"/>
              </a:rPr>
              <a:t>Phân nhóm các bảng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1148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627081"/>
                </a:solidFill>
                <a:latin typeface="Aptos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389888"/>
            <a:ext cx="10789920" cy="13716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10528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627081"/>
                </a:solidFill>
                <a:latin typeface="Aptos"/>
              </a:rPr>
              <a:t>BÀI TẬP LỚN  |  HỆ THỐNG QUẢN LÝ THƯ VIỆN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35640" y="6510528"/>
            <a:ext cx="594360" cy="4572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1828800"/>
            <a:ext cx="5074920" cy="160020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1828800"/>
            <a:ext cx="82296" cy="1600200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1993392"/>
            <a:ext cx="4663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02645"/>
                </a:solidFill>
                <a:latin typeface="Aptos"/>
              </a:rPr>
              <a:t>QUẢN LÝ SÁCH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50592"/>
            <a:ext cx="466344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3040"/>
                </a:solidFill>
                <a:latin typeface="Aptos"/>
              </a:rPr>
              <a:t>AUTHOR • BOOK • GENRE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3040"/>
                </a:solidFill>
                <a:latin typeface="Aptos"/>
              </a:rPr>
              <a:t>BOOK_GENRE • LANGUAGE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5074920" cy="160020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82296" cy="160020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993392"/>
            <a:ext cx="4663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02645"/>
                </a:solidFill>
                <a:latin typeface="Aptos"/>
              </a:rPr>
              <a:t>BẢN SAO &amp; MƯỢN TRẢ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50592"/>
            <a:ext cx="466344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3040"/>
                </a:solidFill>
                <a:latin typeface="Aptos"/>
              </a:rPr>
              <a:t>BOOK_INSTANCE • LOAN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886200"/>
            <a:ext cx="5074920" cy="160020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3886200"/>
            <a:ext cx="82296" cy="1600200"/>
          </a:xfrm>
          <a:prstGeom prst="rect">
            <a:avLst/>
          </a:prstGeom>
          <a:solidFill>
            <a:srgbClr val="30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050791"/>
            <a:ext cx="4663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02645"/>
                </a:solidFill>
                <a:latin typeface="Aptos"/>
              </a:rPr>
              <a:t>TÀI KHOẢN &amp; HỒ SƠ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507992"/>
            <a:ext cx="466344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3040"/>
                </a:solidFill>
                <a:latin typeface="Aptos"/>
              </a:rPr>
              <a:t>AUTH_USER • USER_PROFILE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886200"/>
            <a:ext cx="5074920" cy="160020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3886200"/>
            <a:ext cx="82296" cy="1600200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4050791"/>
            <a:ext cx="4663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02645"/>
                </a:solidFill>
                <a:latin typeface="Aptos"/>
              </a:rPr>
              <a:t>PHÂN QUYỀN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07992"/>
            <a:ext cx="466344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3040"/>
                </a:solidFill>
                <a:latin typeface="Aptos"/>
              </a:rPr>
              <a:t>AUTH_GROUP • USER_GROUP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97880"/>
            <a:ext cx="10332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627081"/>
                </a:solidFill>
                <a:latin typeface="Aptos"/>
              </a:rPr>
              <a:t>Mỗi bảng đảm nhiệm một nhóm thông tin riêng, giúp thiết kế dễ hiểu và dễ bảo trì.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109728" cy="438912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29768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1F69B2"/>
                </a:solidFill>
                <a:latin typeface="Aptos"/>
              </a:rPr>
              <a:t>05 • CƠ SỞ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02645"/>
                </a:solidFill>
                <a:latin typeface="Aptos"/>
              </a:rPr>
              <a:t>Khóa và ràng buộc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1148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627081"/>
                </a:solidFill>
                <a:latin typeface="Aptos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389888"/>
            <a:ext cx="10789920" cy="13716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10528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627081"/>
                </a:solidFill>
                <a:latin typeface="Aptos"/>
              </a:rPr>
              <a:t>BÀI TẬP LỚN  |  HỆ THỐNG QUẢN LÝ THƯ VIỆN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35640" y="6510528"/>
            <a:ext cx="594360" cy="4572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3337560" cy="242316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1874519"/>
            <a:ext cx="82296" cy="2423160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039112"/>
            <a:ext cx="292607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02645"/>
                </a:solidFill>
                <a:latin typeface="Aptos"/>
              </a:rPr>
              <a:t>PK — KHÓA CHÍNH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96312"/>
            <a:ext cx="2926079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3040"/>
                </a:solidFill>
                <a:latin typeface="Aptos"/>
              </a:rPr>
              <a:t>Định danh duy nhất một bản ghi.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3040"/>
                </a:solidFill>
                <a:latin typeface="Aptos"/>
              </a:rPr>
              <a:t>Ví dụ: BOOK.id, LOAN.id.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874519"/>
            <a:ext cx="3337560" cy="242316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1874519"/>
            <a:ext cx="82296" cy="242316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2039112"/>
            <a:ext cx="292607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02645"/>
                </a:solidFill>
                <a:latin typeface="Aptos"/>
              </a:rPr>
              <a:t>FK — KHÓA NGOẠI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496312"/>
            <a:ext cx="2926079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3040"/>
                </a:solidFill>
                <a:latin typeface="Aptos"/>
              </a:rPr>
              <a:t>Liên kết giữa các bảng.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3040"/>
                </a:solidFill>
                <a:latin typeface="Aptos"/>
              </a:rPr>
              <a:t>Ví dụ: BOOK.author_id → AUTHOR.id.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874519"/>
            <a:ext cx="3337560" cy="242316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1874519"/>
            <a:ext cx="82296" cy="2423160"/>
          </a:xfrm>
          <a:prstGeom prst="rect">
            <a:avLst/>
          </a:prstGeom>
          <a:solidFill>
            <a:srgbClr val="30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2039112"/>
            <a:ext cx="292607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02645"/>
                </a:solidFill>
                <a:latin typeface="Aptos"/>
              </a:rPr>
              <a:t>UK — DUY NHẤT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496312"/>
            <a:ext cx="2926079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3040"/>
                </a:solidFill>
                <a:latin typeface="Aptos"/>
              </a:rPr>
              <a:t>Hạn chế giá trị trùng lặp.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3040"/>
                </a:solidFill>
                <a:latin typeface="Aptos"/>
              </a:rPr>
              <a:t>Ví dụ: ISBN, barcode, username.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83480"/>
            <a:ext cx="102870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02645"/>
                </a:solidFill>
                <a:latin typeface="Aptos"/>
              </a:rPr>
              <a:t>Bảng BOOK_GENRE dùng khóa chính ghép (book_id, genre_id) để tránh lặp một liên kết thể loại.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109728" cy="438912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29768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1F69B2"/>
                </a:solidFill>
                <a:latin typeface="Aptos"/>
              </a:rPr>
              <a:t>06 • NGHIỆP VỤ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02645"/>
                </a:solidFill>
                <a:latin typeface="Aptos"/>
              </a:rPr>
              <a:t>Quy trình mượn – trả sách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1148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627081"/>
                </a:solidFill>
                <a:latin typeface="Aptos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389888"/>
            <a:ext cx="10789920" cy="13716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10528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627081"/>
                </a:solidFill>
                <a:latin typeface="Aptos"/>
              </a:rPr>
              <a:t>BÀI TẬP LỚN  |  HỆ THỐNG QUẢN LÝ THƯ VIỆN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35640" y="6510528"/>
            <a:ext cx="594360" cy="4572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71600" y="1965960"/>
            <a:ext cx="1005840" cy="1005840"/>
          </a:xfrm>
          <a:prstGeom prst="ellipse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2240280"/>
            <a:ext cx="1005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432304"/>
            <a:ext cx="1051560" cy="36576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23317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02645"/>
                </a:solidFill>
                <a:latin typeface="Aptos"/>
              </a:rPr>
              <a:t>TÌM SÁCH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24688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33040"/>
                </a:solidFill>
                <a:latin typeface="Aptos"/>
              </a:rPr>
              <a:t>Tra cứu đầu sách và bản sao.</a:t>
            </a:r>
          </a:p>
        </p:txBody>
      </p:sp>
      <p:sp>
        <p:nvSpPr>
          <p:cNvPr id="15" name="Oval 14"/>
          <p:cNvSpPr/>
          <p:nvPr/>
        </p:nvSpPr>
        <p:spPr>
          <a:xfrm>
            <a:off x="4251960" y="1965960"/>
            <a:ext cx="1005840" cy="1005840"/>
          </a:xfrm>
          <a:prstGeom prst="ellipse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2240280"/>
            <a:ext cx="1005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2432304"/>
            <a:ext cx="1051560" cy="36576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11879" y="3337560"/>
            <a:ext cx="23317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02645"/>
                </a:solidFill>
                <a:latin typeface="Aptos"/>
              </a:rPr>
              <a:t>TẠO PHIẾU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840480"/>
            <a:ext cx="24688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33040"/>
                </a:solidFill>
                <a:latin typeface="Aptos"/>
              </a:rPr>
              <a:t>Lưu thành viên, nhân viên và ngày mượn.</a:t>
            </a:r>
          </a:p>
        </p:txBody>
      </p:sp>
      <p:sp>
        <p:nvSpPr>
          <p:cNvPr id="20" name="Oval 19"/>
          <p:cNvSpPr/>
          <p:nvPr/>
        </p:nvSpPr>
        <p:spPr>
          <a:xfrm>
            <a:off x="7132320" y="1965960"/>
            <a:ext cx="1005840" cy="1005840"/>
          </a:xfrm>
          <a:prstGeom prst="ellipse">
            <a:avLst/>
          </a:prstGeom>
          <a:solidFill>
            <a:srgbClr val="30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2240280"/>
            <a:ext cx="1005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432304"/>
            <a:ext cx="1051560" cy="36576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337560"/>
            <a:ext cx="23317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02645"/>
                </a:solidFill>
                <a:latin typeface="Aptos"/>
              </a:rPr>
              <a:t>THEO DÕI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840480"/>
            <a:ext cx="24688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33040"/>
                </a:solidFill>
                <a:latin typeface="Aptos"/>
              </a:rPr>
              <a:t>Kiểm tra hạn trả và trạng thái.</a:t>
            </a:r>
          </a:p>
        </p:txBody>
      </p:sp>
      <p:sp>
        <p:nvSpPr>
          <p:cNvPr id="25" name="Oval 24"/>
          <p:cNvSpPr/>
          <p:nvPr/>
        </p:nvSpPr>
        <p:spPr>
          <a:xfrm>
            <a:off x="10012680" y="1965960"/>
            <a:ext cx="1005840" cy="1005840"/>
          </a:xfrm>
          <a:prstGeom prst="ellipse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12680" y="2240280"/>
            <a:ext cx="1005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337560"/>
            <a:ext cx="23317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02645"/>
                </a:solidFill>
                <a:latin typeface="Aptos"/>
              </a:rPr>
              <a:t>TRẢ SÁCH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840480"/>
            <a:ext cx="24688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33040"/>
                </a:solidFill>
                <a:latin typeface="Aptos"/>
              </a:rPr>
              <a:t>Cập nhật ngày trả thực tế.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5166360"/>
            <a:ext cx="10149840" cy="77724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5840" y="5166360"/>
            <a:ext cx="82296" cy="77724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26667" y="5261098"/>
            <a:ext cx="973836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 dirty="0">
                <a:solidFill>
                  <a:srgbClr val="102645"/>
                </a:solidFill>
                <a:latin typeface="Aptos"/>
              </a:rPr>
              <a:t>QUY TẮC QUAN TRỌNG</a:t>
            </a:r>
            <a:r>
              <a:rPr lang="en-US" sz="1400" b="1" i="0" dirty="0">
                <a:solidFill>
                  <a:srgbClr val="102645"/>
                </a:solidFill>
                <a:latin typeface="Aptos"/>
              </a:rPr>
              <a:t>:</a:t>
            </a:r>
            <a:endParaRPr sz="1400" b="1" i="0" dirty="0">
              <a:solidFill>
                <a:srgbClr val="102645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52728" y="5577840"/>
            <a:ext cx="973836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 err="1">
                <a:solidFill>
                  <a:srgbClr val="233040"/>
                </a:solidFill>
                <a:latin typeface="Aptos"/>
              </a:rPr>
              <a:t>Không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cho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mượn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bản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sao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không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đủ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điều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kiện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;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cập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nhật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trạng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thái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đồng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bộ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với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phiếu</a:t>
            </a:r>
            <a:r>
              <a:rPr sz="14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233040"/>
                </a:solidFill>
                <a:latin typeface="Aptos"/>
              </a:rPr>
              <a:t>mượn</a:t>
            </a:r>
            <a:r>
              <a:rPr sz="1200" b="0" i="0" dirty="0">
                <a:solidFill>
                  <a:srgbClr val="233040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109728" cy="438912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29768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1F69B2"/>
                </a:solidFill>
                <a:latin typeface="Aptos"/>
              </a:rPr>
              <a:t>07 • TỔNG KẾT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02645"/>
                </a:solidFill>
                <a:latin typeface="Aptos"/>
              </a:rPr>
              <a:t>Đánh giá và hướng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1148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627081"/>
                </a:solidFill>
                <a:latin typeface="Aptos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389888"/>
            <a:ext cx="10789920" cy="13716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10528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627081"/>
                </a:solidFill>
                <a:latin typeface="Aptos"/>
              </a:rPr>
              <a:t>BÀI TẬP LỚN  |  HỆ THỐNG QUẢN LÝ THƯ VIỆN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35640" y="6510528"/>
            <a:ext cx="594360" cy="4572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1828800"/>
            <a:ext cx="4983480" cy="333756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1828800"/>
            <a:ext cx="82296" cy="3337560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1993392"/>
            <a:ext cx="4572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02645"/>
                </a:solidFill>
                <a:latin typeface="Aptos"/>
              </a:rPr>
              <a:t>ƯU ĐIỂM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50592"/>
            <a:ext cx="4572000" cy="2587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33040"/>
                </a:solidFill>
                <a:latin typeface="Aptos"/>
              </a:rPr>
              <a:t>• Dữ liệu được tổ chức theo chức năng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33040"/>
                </a:solidFill>
                <a:latin typeface="Aptos"/>
              </a:rPr>
              <a:t>• Giảm trùng lặp thông tin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33040"/>
                </a:solidFill>
                <a:latin typeface="Aptos"/>
              </a:rPr>
              <a:t>• Có khóa và ràng buộc liên kết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33040"/>
                </a:solidFill>
                <a:latin typeface="Aptos"/>
              </a:rPr>
              <a:t>• Hỗ trợ tra cứu lịch sử mượn trả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828800"/>
            <a:ext cx="4983480" cy="3337560"/>
          </a:xfrm>
          <a:prstGeom prst="roundRect">
            <a:avLst/>
          </a:prstGeom>
          <a:solidFill>
            <a:srgbClr val="F7F9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828800"/>
            <a:ext cx="82296" cy="333756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993392"/>
            <a:ext cx="4572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02645"/>
                </a:solidFill>
                <a:latin typeface="Aptos"/>
              </a:rPr>
              <a:t>HƯỚNG PHÁT TRIỂN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50592"/>
            <a:ext cx="4572000" cy="64325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rgbClr val="233040"/>
                </a:solidFill>
                <a:latin typeface="Aptos"/>
              </a:rPr>
              <a:t>• Giao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diện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tra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cứu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sách</a:t>
            </a:r>
            <a:endParaRPr sz="1600" b="0" i="0" dirty="0">
              <a:solidFill>
                <a:srgbClr val="23304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rgbClr val="233040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Đặt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trước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và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thông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báo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hạn</a:t>
            </a:r>
            <a:r>
              <a:rPr sz="1600" b="0" i="0" dirty="0">
                <a:solidFill>
                  <a:srgbClr val="23304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233040"/>
                </a:solidFill>
                <a:latin typeface="Aptos"/>
              </a:rPr>
              <a:t>trả</a:t>
            </a:r>
            <a:endParaRPr sz="1600" b="0" i="0" dirty="0">
              <a:solidFill>
                <a:srgbClr val="233040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627081"/>
                </a:solidFill>
                <a:latin typeface="Aptos"/>
              </a:rPr>
              <a:t>Lưu ý hoàn thiện: thống nhất kiểu dữ liệu ID và tên cột ngày trả trong ERD, mô hình bảng và mã nguồn.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6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EFB7AD-F8E6-9010-10A1-940066E9B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9C1BB-5B26-1926-EE50-31B08CC48253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BD975E-7338-0EBC-3A94-DDEF2D1C16EA}"/>
              </a:ext>
            </a:extLst>
          </p:cNvPr>
          <p:cNvSpPr/>
          <p:nvPr/>
        </p:nvSpPr>
        <p:spPr>
          <a:xfrm>
            <a:off x="777240" y="1051560"/>
            <a:ext cx="822960" cy="109728"/>
          </a:xfrm>
          <a:prstGeom prst="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035D6D-E280-6FF0-2204-70BC6F25FE2D}"/>
              </a:ext>
            </a:extLst>
          </p:cNvPr>
          <p:cNvSpPr/>
          <p:nvPr/>
        </p:nvSpPr>
        <p:spPr>
          <a:xfrm>
            <a:off x="1295247" y="1554480"/>
            <a:ext cx="9601200" cy="3474720"/>
          </a:xfrm>
          <a:prstGeom prst="roundRect">
            <a:avLst/>
          </a:prstGeom>
          <a:solidFill>
            <a:srgbClr val="1F6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CB442F-BFCF-2D5B-E430-39052E9BA736}"/>
              </a:ext>
            </a:extLst>
          </p:cNvPr>
          <p:cNvSpPr txBox="1"/>
          <p:nvPr/>
        </p:nvSpPr>
        <p:spPr>
          <a:xfrm>
            <a:off x="1834743" y="2639353"/>
            <a:ext cx="8522208" cy="130497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 dirty="0">
                <a:solidFill>
                  <a:srgbClr val="FFFFFF"/>
                </a:solidFill>
                <a:latin typeface="Aptos"/>
              </a:rPr>
              <a:t>XIN CẢM ƠN</a:t>
            </a:r>
            <a:r>
              <a:rPr lang="en-US" sz="40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sz="4000" b="1" i="0" dirty="0">
                <a:solidFill>
                  <a:srgbClr val="FFFFFF"/>
                </a:solidFill>
                <a:latin typeface="Aptos"/>
              </a:rPr>
              <a:t>THẦY CÔ</a:t>
            </a:r>
            <a:r>
              <a:rPr lang="en-US" sz="40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sz="4000" b="1" i="0" dirty="0">
                <a:solidFill>
                  <a:srgbClr val="FFFFFF"/>
                </a:solidFill>
                <a:latin typeface="Aptos"/>
              </a:rPr>
              <a:t>VÀ CÁC BẠN</a:t>
            </a:r>
            <a:r>
              <a:rPr lang="en-US" sz="4000" b="1" dirty="0">
                <a:solidFill>
                  <a:srgbClr val="FFFFFF"/>
                </a:solidFill>
                <a:latin typeface="Aptos"/>
              </a:rPr>
              <a:t> ĐÃ LẮNG NGHE </a:t>
            </a:r>
            <a:r>
              <a:rPr sz="4000" b="1" i="0" dirty="0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A67743-051D-5D2F-B089-740F15942048}"/>
              </a:ext>
            </a:extLst>
          </p:cNvPr>
          <p:cNvSpPr txBox="1"/>
          <p:nvPr/>
        </p:nvSpPr>
        <p:spPr>
          <a:xfrm>
            <a:off x="822960" y="6263640"/>
            <a:ext cx="6400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BECFE3"/>
                </a:solidFill>
                <a:latin typeface="Aptos"/>
              </a:rPr>
              <a:t>HỆ THỐNG QUẢN LÝ THƯ VIỆN  •  BÀI TẬP LỚN</a:t>
            </a:r>
          </a:p>
        </p:txBody>
      </p:sp>
    </p:spTree>
    <p:extLst>
      <p:ext uri="{BB962C8B-B14F-4D97-AF65-F5344CB8AC3E}">
        <p14:creationId xmlns:p14="http://schemas.microsoft.com/office/powerpoint/2010/main" val="4195385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1386</Words>
  <Application>Microsoft Office PowerPoint</Application>
  <PresentationFormat>Widescreen</PresentationFormat>
  <Paragraphs>190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Bui Quang Huy D24CN06</cp:lastModifiedBy>
  <cp:revision>3</cp:revision>
  <dcterms:created xsi:type="dcterms:W3CDTF">2013-01-27T09:14:16Z</dcterms:created>
  <dcterms:modified xsi:type="dcterms:W3CDTF">2026-10-22T20:56:23Z</dcterms:modified>
  <cp:category/>
</cp:coreProperties>
</file>